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3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45" d="100"/>
          <a:sy n="45" d="100"/>
        </p:scale>
        <p:origin x="76" y="428"/>
      </p:cViewPr>
      <p:guideLst>
        <p:guide orient="horz" pos="2160"/>
        <p:guide pos="393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C9CC1E-7487-4016-A8DD-6F3FF8608407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93E4E3-18EA-4F4F-8A2C-96D116AFCC4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4091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9EC82D-BA2D-E763-2CE7-5F5ECBEB1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8719689-919A-17EF-BD5A-EA8EF7923C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6927C0-16C7-61FA-7DA9-291A403A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8755-3BEB-4047-B5FF-ED76830AAD2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F0FE97-9EEA-CC76-A032-51E8AF821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0FED7B-3E65-10E1-FBAB-1A8A4C925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99D5-881D-4A4A-8516-64D206FD7B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866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B955B5-3B3A-8CCE-2920-1D701306E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D6C951-27D8-A46A-141A-1C451A92F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4818FB-A543-F462-24D8-080721641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8755-3BEB-4047-B5FF-ED76830AAD2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EEF1F4-D9B6-4EF3-BC0C-87A4675BB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834C3E-4EC9-C10E-FC5D-0035F239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99D5-881D-4A4A-8516-64D206FD7B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1600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FA3D52-6464-94EC-1B53-C9A10F09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6D5DB2-D1B8-45A2-D666-908F9A90B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95BC16-ABC0-FC0D-F856-B524F2AC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8755-3BEB-4047-B5FF-ED76830AAD2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3DF4F5-CBD1-0E5B-BC9B-343F089B6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0AE8AE0-5804-914C-373C-826A84E0D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99D5-881D-4A4A-8516-64D206FD7B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560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579C-2302-0379-E3DB-CDAAA7AD2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A712AF-8E3D-6313-EDC5-1C3268DC4A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B697793-2579-9BA0-7353-D8FDB9E89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3C7872F-B2AA-8A7F-3935-FEE42A5C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8755-3BEB-4047-B5FF-ED76830AAD2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128B3C4-2254-4793-076C-981FA6949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9F84F7-627E-3CBB-84ED-036347F96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99D5-881D-4A4A-8516-64D206FD7B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2777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3638CD-DD5C-DAD7-4BFF-88230E33C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FEA069-1456-558F-DCEE-8A3C0BDB8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34F557-B542-04D5-5DE1-C0DCC37100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3AC9A6-0163-EB66-5D6D-9F5162F07A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D116B58-ECDC-B691-755D-8E53D51E52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7859674-5121-A8CD-ED43-129BBA47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8755-3BEB-4047-B5FF-ED76830AAD2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0D3EEF2-6F93-DDAB-78EA-7860F16AA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34B92AE-10CD-52A2-1C4E-81406336F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99D5-881D-4A4A-8516-64D206FD7B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570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19C3A-389E-0284-2B07-4DC8EC960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CB14CDE-3E0E-CA3D-9102-990FD4D6E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8755-3BEB-4047-B5FF-ED76830AAD2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34E638-C5D0-2BC7-38AD-58CA0580C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3A27289-7640-6F7A-08D0-6EF0676EA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99D5-881D-4A4A-8516-64D206FD7B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4748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37D1DEA-7946-8A66-51A0-CA441584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8755-3BEB-4047-B5FF-ED76830AAD2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2D281B0-97E7-3F86-110A-CC90235B6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D1E8DA-6772-3BA2-18E8-3ED5C255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99D5-881D-4A4A-8516-64D206FD7B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637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6D2500-505B-A92F-CC0E-9718852D7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BC4AFC-24C2-F5BB-4166-4EA13510C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B9DBE07-792E-72E4-1E94-1A4269562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44FE38-3D3D-2BAE-5EFD-AED78621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8755-3BEB-4047-B5FF-ED76830AAD2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A7792F-B545-46B1-FCFC-E68CD1AB6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8E208FF-A4A8-7130-B61B-AD76E461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99D5-881D-4A4A-8516-64D206FD7B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3318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851146-11DC-BF9F-7642-6B7BE8571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B6B16BE-F7E1-953E-6F24-4F13DA409C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61BA609-0222-3490-77DC-C71212593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8633210-AD2B-90AA-C159-619BE5AA7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8755-3BEB-4047-B5FF-ED76830AAD2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821486-3B2B-E384-DA88-3C2505B08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140493-7326-67B4-1A92-D5030132C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99D5-881D-4A4A-8516-64D206FD7B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29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EBE20F-6A54-4B0A-666E-EF9227562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634818-0F8B-4D91-7FA7-9D30F8CB29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65AB89-D577-464A-2D7A-FFB1FC2A0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8755-3BEB-4047-B5FF-ED76830AAD2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8EF1D0-2C8F-3D2C-380A-A49926AEC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982D43-E61A-7010-45C4-0919906B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99D5-881D-4A4A-8516-64D206FD7B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45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1900433-B3F3-D90E-9B7E-CC19A7E61B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D1B4F8-6E2A-F132-0465-E0CBBFFC4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8C6F8A-73C8-7335-8B8E-FE7C9487B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68755-3BEB-4047-B5FF-ED76830AAD2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E40F8C-48A8-0F57-795E-01581840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6D4DCF-4E55-0D0F-0F0B-1ABEAF1DD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999D5-881D-4A4A-8516-64D206FD7B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643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EF62DE1-EA6B-B674-BC94-08FC9796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F729D9A-598A-850C-1B9F-1EB5A20D2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11433E-E21F-A2AE-8271-BD0D418D4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E68755-3BEB-4047-B5FF-ED76830AAD23}" type="datetimeFigureOut">
              <a:rPr lang="fr-FR" smtClean="0"/>
              <a:t>30/06/2026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FC08AEC-4A24-ED32-7F49-BDF30FF61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1BBE6BF-F397-C47A-760D-16C99E921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999D5-881D-4A4A-8516-64D206FD7B8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4865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olors.co/" TargetMode="External"/><Relationship Id="rId2" Type="http://schemas.openxmlformats.org/officeDocument/2006/relationships/hyperlink" Target="https://fonts.google.com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my400.github.io/Sylla-Amy-Africalent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web-development-png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038306E-8883-BDCE-07C9-CE2C10B38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713" y="0"/>
            <a:ext cx="6032923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3988E68-67D8-A3D6-2246-CE663F7BAA74}"/>
              </a:ext>
            </a:extLst>
          </p:cNvPr>
          <p:cNvSpPr txBox="1"/>
          <p:nvPr/>
        </p:nvSpPr>
        <p:spPr>
          <a:xfrm>
            <a:off x="6725798" y="487565"/>
            <a:ext cx="4715219" cy="10156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60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AfriTalence</a:t>
            </a:r>
            <a:endParaRPr lang="fr-FR" sz="60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132BA2F-16A6-96AE-8233-93B467ADAE92}"/>
              </a:ext>
            </a:extLst>
          </p:cNvPr>
          <p:cNvSpPr txBox="1"/>
          <p:nvPr/>
        </p:nvSpPr>
        <p:spPr>
          <a:xfrm>
            <a:off x="8361802" y="1719784"/>
            <a:ext cx="1443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 web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3C66BCC-47BF-7F62-8A62-3C5EFC7074A8}"/>
              </a:ext>
            </a:extLst>
          </p:cNvPr>
          <p:cNvSpPr txBox="1"/>
          <p:nvPr/>
        </p:nvSpPr>
        <p:spPr>
          <a:xfrm>
            <a:off x="7516073" y="2398284"/>
            <a:ext cx="2324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Amy Sylla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89D9A00-AC8E-83E3-E43D-CEFEE4F35A7D}"/>
              </a:ext>
            </a:extLst>
          </p:cNvPr>
          <p:cNvSpPr txBox="1"/>
          <p:nvPr/>
        </p:nvSpPr>
        <p:spPr>
          <a:xfrm>
            <a:off x="6918592" y="3556257"/>
            <a:ext cx="461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Licence 1 Réseau et Télécommunication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51761DF-3C6F-932B-7A32-444E0F56B8E1}"/>
              </a:ext>
            </a:extLst>
          </p:cNvPr>
          <p:cNvSpPr txBox="1"/>
          <p:nvPr/>
        </p:nvSpPr>
        <p:spPr>
          <a:xfrm>
            <a:off x="8361802" y="4296311"/>
            <a:ext cx="2853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2025-2026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0B3EC36-9BF7-0FE9-50F4-4677650066FD}"/>
              </a:ext>
            </a:extLst>
          </p:cNvPr>
          <p:cNvSpPr txBox="1"/>
          <p:nvPr/>
        </p:nvSpPr>
        <p:spPr>
          <a:xfrm>
            <a:off x="6428343" y="5405698"/>
            <a:ext cx="2131763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Développement web 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E2F2BAA-0A8F-6F69-3DFE-A28423465AC6}"/>
              </a:ext>
            </a:extLst>
          </p:cNvPr>
          <p:cNvSpPr txBox="1"/>
          <p:nvPr/>
        </p:nvSpPr>
        <p:spPr>
          <a:xfrm>
            <a:off x="9039341" y="5405698"/>
            <a:ext cx="2991077" cy="369332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HTML-CSS-JAVASCRIPTE</a:t>
            </a:r>
          </a:p>
        </p:txBody>
      </p:sp>
    </p:spTree>
    <p:extLst>
      <p:ext uri="{BB962C8B-B14F-4D97-AF65-F5344CB8AC3E}">
        <p14:creationId xmlns:p14="http://schemas.microsoft.com/office/powerpoint/2010/main" val="2906448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EA0A9D1-BBD7-B8AC-353E-7B6FE31C42C9}"/>
              </a:ext>
            </a:extLst>
          </p:cNvPr>
          <p:cNvSpPr txBox="1"/>
          <p:nvPr/>
        </p:nvSpPr>
        <p:spPr>
          <a:xfrm>
            <a:off x="4159786" y="185857"/>
            <a:ext cx="3872428" cy="830997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Sommaire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41B6BDE-15ED-FFBD-4A5D-D60DF7CB9C3C}"/>
              </a:ext>
            </a:extLst>
          </p:cNvPr>
          <p:cNvSpPr txBox="1"/>
          <p:nvPr/>
        </p:nvSpPr>
        <p:spPr>
          <a:xfrm>
            <a:off x="508000" y="1303867"/>
            <a:ext cx="82173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parcours structuré en 9 étapes de la conception à la mis en ligne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D9A85D5-374A-A903-0BC3-E377963225C1}"/>
              </a:ext>
            </a:extLst>
          </p:cNvPr>
          <p:cNvSpPr txBox="1"/>
          <p:nvPr/>
        </p:nvSpPr>
        <p:spPr>
          <a:xfrm>
            <a:off x="326529" y="1982641"/>
            <a:ext cx="34286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du projet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 , objectif , public cible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0291CF1-7DA7-8657-1320-A44F05D88686}"/>
              </a:ext>
            </a:extLst>
          </p:cNvPr>
          <p:cNvSpPr txBox="1"/>
          <p:nvPr/>
        </p:nvSpPr>
        <p:spPr>
          <a:xfrm>
            <a:off x="326529" y="3274869"/>
            <a:ext cx="3238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Choix de design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Palette (codex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, polices ( justification ), inspirations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6F1AFE3-BFB3-9FD0-91A8-B1F2FB9573BF}"/>
              </a:ext>
            </a:extLst>
          </p:cNvPr>
          <p:cNvSpPr txBox="1"/>
          <p:nvPr/>
        </p:nvSpPr>
        <p:spPr>
          <a:xfrm>
            <a:off x="326528" y="4877760"/>
            <a:ext cx="32389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fr-FR" sz="2400" dirty="0"/>
              <a:t>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arborescence, captures d'écran des pages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E113584-294D-F266-BDFF-A4D643D3813B}"/>
              </a:ext>
            </a:extLst>
          </p:cNvPr>
          <p:cNvSpPr txBox="1"/>
          <p:nvPr/>
        </p:nvSpPr>
        <p:spPr>
          <a:xfrm>
            <a:off x="4330038" y="1980643"/>
            <a:ext cx="332668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techniques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(extraits de code + logique), Bootstrap (composants utilisés), CSS , avancé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CBA2D5C-F666-4887-2979-131D1C13CA17}"/>
              </a:ext>
            </a:extLst>
          </p:cNvPr>
          <p:cNvSpPr txBox="1"/>
          <p:nvPr/>
        </p:nvSpPr>
        <p:spPr>
          <a:xfrm>
            <a:off x="4279543" y="3584696"/>
            <a:ext cx="34276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: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historique des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commits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workflow Git, lien GitHub Pages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93F6370-6D7E-1950-4AE0-6BF04D5FC839}"/>
              </a:ext>
            </a:extLst>
          </p:cNvPr>
          <p:cNvSpPr txBox="1"/>
          <p:nvPr/>
        </p:nvSpPr>
        <p:spPr>
          <a:xfrm>
            <a:off x="4279543" y="5302870"/>
            <a:ext cx="40795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Difficultés rencontrées et solutions (minimum 2)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AFD840F-C84D-E769-6C9F-3EC2F01E9A55}"/>
              </a:ext>
            </a:extLst>
          </p:cNvPr>
          <p:cNvSpPr txBox="1"/>
          <p:nvPr/>
        </p:nvSpPr>
        <p:spPr>
          <a:xfrm>
            <a:off x="8400157" y="2098514"/>
            <a:ext cx="3505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Ressources et documentation utilisées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C0A28C7-ABF8-C591-B771-AC97775B48F0}"/>
              </a:ext>
            </a:extLst>
          </p:cNvPr>
          <p:cNvSpPr txBox="1"/>
          <p:nvPr/>
        </p:nvSpPr>
        <p:spPr>
          <a:xfrm>
            <a:off x="8553832" y="3367201"/>
            <a:ext cx="3117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Démonstration live du site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A33CCC8C-6B3E-2863-B277-56F25787CE2B}"/>
              </a:ext>
            </a:extLst>
          </p:cNvPr>
          <p:cNvSpPr txBox="1"/>
          <p:nvPr/>
        </p:nvSpPr>
        <p:spPr>
          <a:xfrm>
            <a:off x="8725359" y="4953968"/>
            <a:ext cx="285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et perspectives d'amélioration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D89A7376-9F9F-CA84-85F7-A4D40CB7D017}"/>
              </a:ext>
            </a:extLst>
          </p:cNvPr>
          <p:cNvCxnSpPr>
            <a:cxnSpLocks/>
          </p:cNvCxnSpPr>
          <p:nvPr/>
        </p:nvCxnSpPr>
        <p:spPr>
          <a:xfrm>
            <a:off x="77118" y="1867879"/>
            <a:ext cx="348836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B67B1AB1-CC23-CFC4-D1D8-29E682C78764}"/>
              </a:ext>
            </a:extLst>
          </p:cNvPr>
          <p:cNvCxnSpPr>
            <a:cxnSpLocks/>
          </p:cNvCxnSpPr>
          <p:nvPr/>
        </p:nvCxnSpPr>
        <p:spPr>
          <a:xfrm>
            <a:off x="9178" y="3276200"/>
            <a:ext cx="348836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36BEE3D8-09C2-6262-42C0-C483D51FBB71}"/>
              </a:ext>
            </a:extLst>
          </p:cNvPr>
          <p:cNvCxnSpPr>
            <a:cxnSpLocks/>
          </p:cNvCxnSpPr>
          <p:nvPr/>
        </p:nvCxnSpPr>
        <p:spPr>
          <a:xfrm>
            <a:off x="-3677" y="4772657"/>
            <a:ext cx="348836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F57AD517-B208-24AE-E233-353FF050ED27}"/>
              </a:ext>
            </a:extLst>
          </p:cNvPr>
          <p:cNvCxnSpPr>
            <a:cxnSpLocks/>
          </p:cNvCxnSpPr>
          <p:nvPr/>
        </p:nvCxnSpPr>
        <p:spPr>
          <a:xfrm>
            <a:off x="4026861" y="1846362"/>
            <a:ext cx="348836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C830FAD8-E057-52E7-BC66-0C7E68890EDB}"/>
              </a:ext>
            </a:extLst>
          </p:cNvPr>
          <p:cNvCxnSpPr>
            <a:cxnSpLocks/>
          </p:cNvCxnSpPr>
          <p:nvPr/>
        </p:nvCxnSpPr>
        <p:spPr>
          <a:xfrm>
            <a:off x="8553832" y="3150544"/>
            <a:ext cx="348836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1614605F-86FC-B400-FA0B-5B266F9A072D}"/>
              </a:ext>
            </a:extLst>
          </p:cNvPr>
          <p:cNvCxnSpPr>
            <a:cxnSpLocks/>
          </p:cNvCxnSpPr>
          <p:nvPr/>
        </p:nvCxnSpPr>
        <p:spPr>
          <a:xfrm>
            <a:off x="4179261" y="3563153"/>
            <a:ext cx="348836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7F2B5CDA-6DAE-1FA6-5170-13CF9C2CD9EA}"/>
              </a:ext>
            </a:extLst>
          </p:cNvPr>
          <p:cNvCxnSpPr>
            <a:cxnSpLocks/>
          </p:cNvCxnSpPr>
          <p:nvPr/>
        </p:nvCxnSpPr>
        <p:spPr>
          <a:xfrm>
            <a:off x="4155389" y="5136723"/>
            <a:ext cx="348836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2CDDC2CB-CFC3-A14D-1A87-CD13A48E0985}"/>
              </a:ext>
            </a:extLst>
          </p:cNvPr>
          <p:cNvCxnSpPr>
            <a:cxnSpLocks/>
          </p:cNvCxnSpPr>
          <p:nvPr/>
        </p:nvCxnSpPr>
        <p:spPr>
          <a:xfrm>
            <a:off x="7932335" y="1980643"/>
            <a:ext cx="348836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B19C870F-4C9B-E3EB-DA1A-FB9311710059}"/>
              </a:ext>
            </a:extLst>
          </p:cNvPr>
          <p:cNvCxnSpPr>
            <a:cxnSpLocks/>
          </p:cNvCxnSpPr>
          <p:nvPr/>
        </p:nvCxnSpPr>
        <p:spPr>
          <a:xfrm>
            <a:off x="8183336" y="4772657"/>
            <a:ext cx="348836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ZoneTexte 43">
            <a:extLst>
              <a:ext uri="{FF2B5EF4-FFF2-40B4-BE49-F238E27FC236}">
                <a16:creationId xmlns:a16="http://schemas.microsoft.com/office/drawing/2014/main" id="{C79D3A77-0733-6002-680F-51FBF6256786}"/>
              </a:ext>
            </a:extLst>
          </p:cNvPr>
          <p:cNvSpPr txBox="1"/>
          <p:nvPr/>
        </p:nvSpPr>
        <p:spPr>
          <a:xfrm>
            <a:off x="35336" y="1597304"/>
            <a:ext cx="773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0A6C2EDF-80FD-83E3-B322-D4DC93A0E499}"/>
              </a:ext>
            </a:extLst>
          </p:cNvPr>
          <p:cNvSpPr txBox="1"/>
          <p:nvPr/>
        </p:nvSpPr>
        <p:spPr>
          <a:xfrm>
            <a:off x="-58763" y="2958441"/>
            <a:ext cx="1029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04-05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4AE01855-D3A4-0CEA-67BE-66599C2EF74B}"/>
              </a:ext>
            </a:extLst>
          </p:cNvPr>
          <p:cNvSpPr txBox="1"/>
          <p:nvPr/>
        </p:nvSpPr>
        <p:spPr>
          <a:xfrm>
            <a:off x="9178" y="4476751"/>
            <a:ext cx="1029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06-07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51C306FF-DB44-4C42-BDAA-C275CE2ED0AE}"/>
              </a:ext>
            </a:extLst>
          </p:cNvPr>
          <p:cNvSpPr txBox="1"/>
          <p:nvPr/>
        </p:nvSpPr>
        <p:spPr>
          <a:xfrm>
            <a:off x="4155389" y="1605517"/>
            <a:ext cx="1029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08-09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0B94E63B-223E-F906-AF7A-FEB09DD1A069}"/>
              </a:ext>
            </a:extLst>
          </p:cNvPr>
          <p:cNvSpPr txBox="1"/>
          <p:nvPr/>
        </p:nvSpPr>
        <p:spPr>
          <a:xfrm>
            <a:off x="4330038" y="3295405"/>
            <a:ext cx="1029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4811567D-1F72-612C-11DE-5D76EAFB3562}"/>
              </a:ext>
            </a:extLst>
          </p:cNvPr>
          <p:cNvSpPr txBox="1"/>
          <p:nvPr/>
        </p:nvSpPr>
        <p:spPr>
          <a:xfrm>
            <a:off x="4277595" y="4690004"/>
            <a:ext cx="1029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EC4F6C74-D5D2-A541-8483-ED675905D70C}"/>
              </a:ext>
            </a:extLst>
          </p:cNvPr>
          <p:cNvSpPr txBox="1"/>
          <p:nvPr/>
        </p:nvSpPr>
        <p:spPr>
          <a:xfrm>
            <a:off x="8105132" y="1751192"/>
            <a:ext cx="1029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BD2570F-04C0-32E6-2D24-7FE30418D826}"/>
              </a:ext>
            </a:extLst>
          </p:cNvPr>
          <p:cNvSpPr txBox="1"/>
          <p:nvPr/>
        </p:nvSpPr>
        <p:spPr>
          <a:xfrm>
            <a:off x="8553832" y="2893492"/>
            <a:ext cx="1029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84F57F7E-864B-45AC-B5E8-A2681E9B313A}"/>
              </a:ext>
            </a:extLst>
          </p:cNvPr>
          <p:cNvSpPr txBox="1"/>
          <p:nvPr/>
        </p:nvSpPr>
        <p:spPr>
          <a:xfrm>
            <a:off x="8359048" y="4489949"/>
            <a:ext cx="10291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14-15</a:t>
            </a:r>
          </a:p>
        </p:txBody>
      </p:sp>
    </p:spTree>
    <p:extLst>
      <p:ext uri="{BB962C8B-B14F-4D97-AF65-F5344CB8AC3E}">
        <p14:creationId xmlns:p14="http://schemas.microsoft.com/office/powerpoint/2010/main" val="1879902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BA75C1B-90A1-B95B-C08B-1D8FEF8E8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559"/>
            <a:ext cx="3745735" cy="678088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A5F465E-C72D-952E-A330-BEB385BD489F}"/>
              </a:ext>
            </a:extLst>
          </p:cNvPr>
          <p:cNvSpPr txBox="1"/>
          <p:nvPr/>
        </p:nvSpPr>
        <p:spPr>
          <a:xfrm>
            <a:off x="5340325" y="58920"/>
            <a:ext cx="4809066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du projet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9C7378-5D8D-8EE7-D0A2-095DE052A496}"/>
              </a:ext>
            </a:extLst>
          </p:cNvPr>
          <p:cNvSpPr txBox="1"/>
          <p:nvPr/>
        </p:nvSpPr>
        <p:spPr>
          <a:xfrm>
            <a:off x="4021158" y="1133577"/>
            <a:ext cx="3536415" cy="3477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Contexte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marché du freelance tech en Afrique est en pleine expansion. Développeurs, designers et créateurs de contenu cherchent une plate forme fiable pour trouver des missions et proposer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0E48809-5E16-7AA6-E983-E805628C5143}"/>
              </a:ext>
            </a:extLst>
          </p:cNvPr>
          <p:cNvSpPr txBox="1"/>
          <p:nvPr/>
        </p:nvSpPr>
        <p:spPr>
          <a:xfrm>
            <a:off x="8549089" y="1133577"/>
            <a:ext cx="3536415" cy="34778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</a:t>
            </a:r>
            <a:r>
              <a:rPr lang="fr-FR" sz="2800" dirty="0"/>
              <a:t>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Concevoir et développer le site vitrine complet d 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présenter la plateforme , ses fonctionnalités , ses tarifs et des profils de freelances pour convaincre visiteurs et entreprises de s’ inscrire</a:t>
            </a:r>
            <a:r>
              <a:rPr lang="fr-FR" dirty="0"/>
              <a:t>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F9B793F-7F3F-9369-65E4-F0567F74C7A9}"/>
              </a:ext>
            </a:extLst>
          </p:cNvPr>
          <p:cNvSpPr txBox="1"/>
          <p:nvPr/>
        </p:nvSpPr>
        <p:spPr>
          <a:xfrm>
            <a:off x="4208445" y="4844698"/>
            <a:ext cx="7689772" cy="16312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cible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Freelances techs africaines à la recherche de mission et entreprises africaines cherchant des talents qualifiés pour leurs projets numériques </a:t>
            </a:r>
          </a:p>
        </p:txBody>
      </p:sp>
    </p:spTree>
    <p:extLst>
      <p:ext uri="{BB962C8B-B14F-4D97-AF65-F5344CB8AC3E}">
        <p14:creationId xmlns:p14="http://schemas.microsoft.com/office/powerpoint/2010/main" val="2725136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8902AFF-82B8-5703-F318-61712CFE6949}"/>
              </a:ext>
            </a:extLst>
          </p:cNvPr>
          <p:cNvSpPr txBox="1"/>
          <p:nvPr/>
        </p:nvSpPr>
        <p:spPr>
          <a:xfrm>
            <a:off x="4395729" y="249711"/>
            <a:ext cx="3591500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Choix de design</a:t>
            </a:r>
            <a:endParaRPr lang="fr-FR" sz="3600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07E2103-DFBD-BAAF-E07F-73896170E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204851"/>
              </p:ext>
            </p:extLst>
          </p:nvPr>
        </p:nvGraphicFramePr>
        <p:xfrm>
          <a:off x="382530" y="2827868"/>
          <a:ext cx="4714404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4404">
                  <a:extLst>
                    <a:ext uri="{9D8B030D-6E8A-4147-A177-3AD203B41FA5}">
                      <a16:colId xmlns:a16="http://schemas.microsoft.com/office/drawing/2014/main" val="2651836144"/>
                    </a:ext>
                  </a:extLst>
                </a:gridCol>
              </a:tblGrid>
              <a:tr h="2946399">
                <a:tc>
                  <a:txBody>
                    <a:bodyPr/>
                    <a:lstStyle/>
                    <a:p>
                      <a:endParaRPr lang="fr-FR" sz="2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fr-FR" sz="24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 contraste fort entre rouge passion et bleu profond, ancré dans l identité africaine et aussi le bleu de nuit pour le teint sombre . Bouton d’ action en vert  pour le succès de l envoie . Les couleur noir et blanc pour les écritures    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469273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72F93D1C-F6AC-79DB-CC26-8180B89EC8EB}"/>
              </a:ext>
            </a:extLst>
          </p:cNvPr>
          <p:cNvSpPr txBox="1"/>
          <p:nvPr/>
        </p:nvSpPr>
        <p:spPr>
          <a:xfrm>
            <a:off x="670396" y="1431068"/>
            <a:ext cx="372533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Palette chromatique </a:t>
            </a:r>
          </a:p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5162517-3F8A-E262-0583-F068E7246485}"/>
              </a:ext>
            </a:extLst>
          </p:cNvPr>
          <p:cNvSpPr txBox="1"/>
          <p:nvPr/>
        </p:nvSpPr>
        <p:spPr>
          <a:xfrm>
            <a:off x="6240463" y="1325136"/>
            <a:ext cx="2001520" cy="1015663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#ff2828</a:t>
            </a:r>
          </a:p>
          <a:p>
            <a:endParaRPr lang="fr-FR" dirty="0"/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Rouge vif-Accents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3ABB5C0-2A27-DD38-25E9-1D8B219745FE}"/>
              </a:ext>
            </a:extLst>
          </p:cNvPr>
          <p:cNvSpPr txBox="1"/>
          <p:nvPr/>
        </p:nvSpPr>
        <p:spPr>
          <a:xfrm>
            <a:off x="6240463" y="2623860"/>
            <a:ext cx="2489200" cy="1292662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#11014f</a:t>
            </a:r>
          </a:p>
          <a:p>
            <a:endParaRPr lang="fr-FR" dirty="0"/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Bleu de nuit Fond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60B98AD-75F7-2128-6522-0C33CBEF8750}"/>
              </a:ext>
            </a:extLst>
          </p:cNvPr>
          <p:cNvSpPr txBox="1"/>
          <p:nvPr/>
        </p:nvSpPr>
        <p:spPr>
          <a:xfrm>
            <a:off x="9177102" y="1522504"/>
            <a:ext cx="2489200" cy="1569660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#000000</a:t>
            </a:r>
          </a:p>
          <a:p>
            <a:endParaRPr lang="fr-FR" dirty="0"/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Couleur noir pour les écritures 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8D08E97-9C86-D505-F7CF-E7AB2905965E}"/>
              </a:ext>
            </a:extLst>
          </p:cNvPr>
          <p:cNvSpPr txBox="1"/>
          <p:nvPr/>
        </p:nvSpPr>
        <p:spPr>
          <a:xfrm>
            <a:off x="6240463" y="4240202"/>
            <a:ext cx="2689014" cy="1015663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dirty="0"/>
              <a:t> 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#2600bd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Bleu clair bouton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C511528-75FB-6755-7A3A-F2F948E176DF}"/>
              </a:ext>
            </a:extLst>
          </p:cNvPr>
          <p:cNvSpPr txBox="1"/>
          <p:nvPr/>
        </p:nvSpPr>
        <p:spPr>
          <a:xfrm>
            <a:off x="9177102" y="3654736"/>
            <a:ext cx="2776904" cy="1292662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#f7f7f7</a:t>
            </a:r>
            <a:endParaRPr lang="fr-FR" dirty="0"/>
          </a:p>
          <a:p>
            <a:r>
              <a:rPr lang="fr-FR" dirty="0"/>
              <a:t>Couleur blanc pour les écritures  en teint sombre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CCEE67B-EA5A-0472-9554-351D3BC2B249}"/>
              </a:ext>
            </a:extLst>
          </p:cNvPr>
          <p:cNvSpPr txBox="1"/>
          <p:nvPr/>
        </p:nvSpPr>
        <p:spPr>
          <a:xfrm>
            <a:off x="9033934" y="5245947"/>
            <a:ext cx="3063240" cy="1292662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#e1e1e1</a:t>
            </a:r>
          </a:p>
          <a:p>
            <a:endParaRPr lang="fr-FR" dirty="0"/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Gris très clair. Pour 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508901B-BE9E-A641-31F0-15D68D115EA2}"/>
              </a:ext>
            </a:extLst>
          </p:cNvPr>
          <p:cNvSpPr txBox="1"/>
          <p:nvPr/>
        </p:nvSpPr>
        <p:spPr>
          <a:xfrm>
            <a:off x="6316663" y="5682922"/>
            <a:ext cx="2413000" cy="1015663"/>
          </a:xfrm>
          <a:prstGeom prst="rect">
            <a:avLst/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#28a745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Vert </a:t>
            </a:r>
          </a:p>
        </p:txBody>
      </p:sp>
    </p:spTree>
    <p:extLst>
      <p:ext uri="{BB962C8B-B14F-4D97-AF65-F5344CB8AC3E}">
        <p14:creationId xmlns:p14="http://schemas.microsoft.com/office/powerpoint/2010/main" val="1430907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EA0128D-5BEA-CBB5-C622-B1FF045062E8}"/>
              </a:ext>
            </a:extLst>
          </p:cNvPr>
          <p:cNvSpPr txBox="1"/>
          <p:nvPr/>
        </p:nvSpPr>
        <p:spPr>
          <a:xfrm>
            <a:off x="4084320" y="733306"/>
            <a:ext cx="3230880" cy="523220"/>
          </a:xfrm>
          <a:prstGeom prst="rect">
            <a:avLst/>
          </a:prstGeom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Police et inspiration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7D9E858-07E2-F089-0133-0D4E94E38536}"/>
              </a:ext>
            </a:extLst>
          </p:cNvPr>
          <p:cNvSpPr txBox="1"/>
          <p:nvPr/>
        </p:nvSpPr>
        <p:spPr>
          <a:xfrm>
            <a:off x="1571413" y="1672084"/>
            <a:ext cx="1774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Police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AF723CF-565C-35D7-4CC5-A966AEC045DA}"/>
              </a:ext>
            </a:extLst>
          </p:cNvPr>
          <p:cNvSpPr txBox="1"/>
          <p:nvPr/>
        </p:nvSpPr>
        <p:spPr>
          <a:xfrm>
            <a:off x="646852" y="2895600"/>
            <a:ext cx="5195148" cy="1200329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Roboto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Corps  de texte , lisible sur écran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Noto Sans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Chakma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texte décoratif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Shoulders: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Titres impactantes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70D201-C24D-870B-82CD-1097531953FC}"/>
              </a:ext>
            </a:extLst>
          </p:cNvPr>
          <p:cNvSpPr txBox="1"/>
          <p:nvPr/>
        </p:nvSpPr>
        <p:spPr>
          <a:xfrm>
            <a:off x="7200055" y="1752897"/>
            <a:ext cx="1991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Inspiration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12F906E-755B-DEA0-9A19-03D76A096AAD}"/>
              </a:ext>
            </a:extLst>
          </p:cNvPr>
          <p:cNvSpPr txBox="1"/>
          <p:nvPr/>
        </p:nvSpPr>
        <p:spPr>
          <a:xfrm>
            <a:off x="6593840" y="2828835"/>
            <a:ext cx="5195148" cy="12003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Cite pour police </a:t>
            </a:r>
          </a:p>
          <a:p>
            <a:r>
              <a:rPr lang="fr-FR" dirty="0"/>
              <a:t> </a:t>
            </a:r>
            <a:r>
              <a:rPr lang="fr-FR" dirty="0">
                <a:hlinkClick r:id="rId2"/>
              </a:rPr>
              <a:t>https://fonts.google.com/</a:t>
            </a:r>
            <a:endParaRPr lang="fr-FR" dirty="0"/>
          </a:p>
          <a:p>
            <a:r>
              <a:rPr lang="fr-FR" dirty="0"/>
              <a:t>Cite pour les </a:t>
            </a:r>
            <a:r>
              <a:rPr lang="fr-FR" dirty="0" err="1"/>
              <a:t>polette</a:t>
            </a:r>
            <a:r>
              <a:rPr lang="fr-FR" dirty="0"/>
              <a:t> </a:t>
            </a:r>
          </a:p>
          <a:p>
            <a:r>
              <a:rPr lang="fr-FR" dirty="0" err="1">
                <a:hlinkClick r:id="rId3"/>
              </a:rPr>
              <a:t>Coolors</a:t>
            </a:r>
            <a:r>
              <a:rPr lang="fr-FR" dirty="0">
                <a:hlinkClick r:id="rId3"/>
              </a:rPr>
              <a:t> - The super fast </a:t>
            </a:r>
            <a:r>
              <a:rPr lang="fr-FR" dirty="0" err="1">
                <a:hlinkClick r:id="rId3"/>
              </a:rPr>
              <a:t>color</a:t>
            </a:r>
            <a:r>
              <a:rPr lang="fr-FR" dirty="0">
                <a:hlinkClick r:id="rId3"/>
              </a:rPr>
              <a:t> palettes </a:t>
            </a:r>
            <a:r>
              <a:rPr lang="fr-FR" dirty="0" err="1">
                <a:hlinkClick r:id="rId3"/>
              </a:rPr>
              <a:t>generator</a:t>
            </a:r>
            <a:r>
              <a:rPr lang="fr-FR" dirty="0">
                <a:hlinkClick r:id="rId3"/>
              </a:rPr>
              <a:t>!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418ECE3-0CD7-8C14-6545-5157ECF15591}"/>
              </a:ext>
            </a:extLst>
          </p:cNvPr>
          <p:cNvSpPr txBox="1"/>
          <p:nvPr/>
        </p:nvSpPr>
        <p:spPr>
          <a:xfrm>
            <a:off x="3244426" y="5545127"/>
            <a:ext cx="6187440" cy="9233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polices ont été choisies pour créer une hiérarchie visuelle claire :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Shouldes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capte l attention ,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assure la lisibilité et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Noto Sans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Chakma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apporte une identité unique </a:t>
            </a:r>
          </a:p>
        </p:txBody>
      </p:sp>
    </p:spTree>
    <p:extLst>
      <p:ext uri="{BB962C8B-B14F-4D97-AF65-F5344CB8AC3E}">
        <p14:creationId xmlns:p14="http://schemas.microsoft.com/office/powerpoint/2010/main" val="2507049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3AD1206-D192-3055-940F-DC42225664D0}"/>
              </a:ext>
            </a:extLst>
          </p:cNvPr>
          <p:cNvSpPr txBox="1"/>
          <p:nvPr/>
        </p:nvSpPr>
        <p:spPr>
          <a:xfrm>
            <a:off x="4582160" y="394908"/>
            <a:ext cx="3027680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fr-FR" sz="3600" b="1" dirty="0"/>
              <a:t> </a:t>
            </a: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56100AF-DF21-2C00-D2D5-0C46662CCFC6}"/>
              </a:ext>
            </a:extLst>
          </p:cNvPr>
          <p:cNvSpPr txBox="1"/>
          <p:nvPr/>
        </p:nvSpPr>
        <p:spPr>
          <a:xfrm>
            <a:off x="1613743" y="2105473"/>
            <a:ext cx="133096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Accueil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3F01C20-82D5-429A-55C5-CEDE4A62C987}"/>
              </a:ext>
            </a:extLst>
          </p:cNvPr>
          <p:cNvSpPr txBox="1"/>
          <p:nvPr/>
        </p:nvSpPr>
        <p:spPr>
          <a:xfrm>
            <a:off x="134429" y="3115356"/>
            <a:ext cx="173397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freelances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20B0324-62B4-EBA0-64FF-51EB71BB0A03}"/>
              </a:ext>
            </a:extLst>
          </p:cNvPr>
          <p:cNvSpPr txBox="1"/>
          <p:nvPr/>
        </p:nvSpPr>
        <p:spPr>
          <a:xfrm>
            <a:off x="170513" y="4037861"/>
            <a:ext cx="123952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tarifs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73E1153-606F-8BBC-8F2C-08A4B9EA1E8E}"/>
              </a:ext>
            </a:extLst>
          </p:cNvPr>
          <p:cNvSpPr txBox="1"/>
          <p:nvPr/>
        </p:nvSpPr>
        <p:spPr>
          <a:xfrm>
            <a:off x="3286172" y="3977783"/>
            <a:ext cx="123952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propos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EE880FD-D20E-BBAA-52DD-438E4F7B5D55}"/>
              </a:ext>
            </a:extLst>
          </p:cNvPr>
          <p:cNvSpPr txBox="1"/>
          <p:nvPr/>
        </p:nvSpPr>
        <p:spPr>
          <a:xfrm>
            <a:off x="3045272" y="3211777"/>
            <a:ext cx="136651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357EDED-8536-E1FD-D2A9-C82C8B2BE5C9}"/>
              </a:ext>
            </a:extLst>
          </p:cNvPr>
          <p:cNvSpPr txBox="1"/>
          <p:nvPr/>
        </p:nvSpPr>
        <p:spPr>
          <a:xfrm>
            <a:off x="657008" y="1187923"/>
            <a:ext cx="2065872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Arborescence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913BE576-72BC-C955-9321-D8FAA43436B3}"/>
              </a:ext>
            </a:extLst>
          </p:cNvPr>
          <p:cNvCxnSpPr>
            <a:cxnSpLocks/>
          </p:cNvCxnSpPr>
          <p:nvPr/>
        </p:nvCxnSpPr>
        <p:spPr>
          <a:xfrm>
            <a:off x="2758784" y="2479341"/>
            <a:ext cx="589990" cy="82482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F7E2C3F-5E04-38EA-4294-C239B7095DBF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868403" y="3300022"/>
            <a:ext cx="1417769" cy="86242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D28697D8-6E5D-DD8C-5A34-9DD8A3662DB0}"/>
              </a:ext>
            </a:extLst>
          </p:cNvPr>
          <p:cNvCxnSpPr>
            <a:cxnSpLocks/>
          </p:cNvCxnSpPr>
          <p:nvPr/>
        </p:nvCxnSpPr>
        <p:spPr>
          <a:xfrm flipH="1">
            <a:off x="895769" y="2373420"/>
            <a:ext cx="719031" cy="6761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E970A929-A056-C3F9-87B8-576E3700E8D6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1410034" y="3518982"/>
            <a:ext cx="1657950" cy="7035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0878E373-53FB-2009-A25A-3D308E6594AF}"/>
              </a:ext>
            </a:extLst>
          </p:cNvPr>
          <p:cNvSpPr txBox="1"/>
          <p:nvPr/>
        </p:nvSpPr>
        <p:spPr>
          <a:xfrm>
            <a:off x="170513" y="5269468"/>
            <a:ext cx="4676956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de pages 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site suit une navigation avec un header fixe , un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footer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informatif et des sections clairement délimitées pour guider l utilisateur.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049172F7-BF38-A1B0-0008-0D0F2C1DC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832" y="3972924"/>
            <a:ext cx="2700495" cy="1238262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D7EFDD46-DE85-5A7A-F51C-57610A240888}"/>
              </a:ext>
            </a:extLst>
          </p:cNvPr>
          <p:cNvSpPr txBox="1"/>
          <p:nvPr/>
        </p:nvSpPr>
        <p:spPr>
          <a:xfrm>
            <a:off x="6401832" y="5852161"/>
            <a:ext cx="286070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Accueil header et page héro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C9E7960A-B2E9-E574-6EA8-B646CC766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1551" y="4162449"/>
            <a:ext cx="2459504" cy="929669"/>
          </a:xfrm>
          <a:prstGeom prst="rect">
            <a:avLst/>
          </a:prstGeom>
        </p:spPr>
      </p:pic>
      <p:sp>
        <p:nvSpPr>
          <p:cNvPr id="30" name="ZoneTexte 29">
            <a:extLst>
              <a:ext uri="{FF2B5EF4-FFF2-40B4-BE49-F238E27FC236}">
                <a16:creationId xmlns:a16="http://schemas.microsoft.com/office/drawing/2014/main" id="{816722ED-3648-CB14-F096-3A2B45B43D9A}"/>
              </a:ext>
            </a:extLst>
          </p:cNvPr>
          <p:cNvSpPr txBox="1"/>
          <p:nvPr/>
        </p:nvSpPr>
        <p:spPr>
          <a:xfrm>
            <a:off x="10060743" y="5823466"/>
            <a:ext cx="134112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Footer 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A2B6FD5-0237-342E-405C-9A4754DAD6CC}"/>
              </a:ext>
            </a:extLst>
          </p:cNvPr>
          <p:cNvSpPr txBox="1"/>
          <p:nvPr/>
        </p:nvSpPr>
        <p:spPr>
          <a:xfrm>
            <a:off x="6493089" y="1504911"/>
            <a:ext cx="45906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Accueil: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héro, catégories  témoignage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propos</a:t>
            </a:r>
            <a:r>
              <a:rPr lang="fr-FR" dirty="0"/>
              <a:t>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historique , présentation du équipe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Freelance</a:t>
            </a:r>
            <a:r>
              <a:rPr lang="fr-FR" dirty="0"/>
              <a:t>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annuaire , filtrable aves profils détaillés </a:t>
            </a: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r>
              <a:rPr lang="fr-FR" dirty="0"/>
              <a:t> :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formulaire</a:t>
            </a:r>
            <a:r>
              <a:rPr lang="fr-FR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62360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810862C-A278-B74D-8CB7-32914CA3151A}"/>
              </a:ext>
            </a:extLst>
          </p:cNvPr>
          <p:cNvSpPr txBox="1"/>
          <p:nvPr/>
        </p:nvSpPr>
        <p:spPr>
          <a:xfrm>
            <a:off x="4043680" y="497840"/>
            <a:ext cx="3342640" cy="523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écran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A1E944D-006C-2F57-38BD-E0DBB5510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85" y="1657873"/>
            <a:ext cx="3718560" cy="223340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2FDFE29-C596-CF9A-A986-B5A0AF670E3C}"/>
              </a:ext>
            </a:extLst>
          </p:cNvPr>
          <p:cNvSpPr txBox="1"/>
          <p:nvPr/>
        </p:nvSpPr>
        <p:spPr>
          <a:xfrm>
            <a:off x="744643" y="4302360"/>
            <a:ext cx="2719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freelances :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héro et les boutons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1AEE648-ACA3-E02E-2AE1-9CE51C83CE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3680" y="1657873"/>
            <a:ext cx="3727629" cy="223340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A313E3-4136-E355-0189-4C5E16FFACEB}"/>
              </a:ext>
            </a:extLst>
          </p:cNvPr>
          <p:cNvSpPr txBox="1"/>
          <p:nvPr/>
        </p:nvSpPr>
        <p:spPr>
          <a:xfrm>
            <a:off x="4498023" y="4152686"/>
            <a:ext cx="1742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tarifs: les tarifs 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0F48C98-A32B-678D-3FE2-CF129D7578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144" y="1556617"/>
            <a:ext cx="3827296" cy="2334663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77E6C404-346F-8A9C-4397-F56F32BC39AE}"/>
              </a:ext>
            </a:extLst>
          </p:cNvPr>
          <p:cNvSpPr txBox="1"/>
          <p:nvPr/>
        </p:nvSpPr>
        <p:spPr>
          <a:xfrm>
            <a:off x="8643302" y="4264446"/>
            <a:ext cx="2522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d A propos: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historique et l image  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E2FEFD2D-0ED2-39D9-1DFA-1DB00AF9BA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075" y="5018922"/>
            <a:ext cx="5083565" cy="1839078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BBA3EEF0-7F86-AABB-3D4A-CF9426EF1580}"/>
              </a:ext>
            </a:extLst>
          </p:cNvPr>
          <p:cNvSpPr txBox="1"/>
          <p:nvPr/>
        </p:nvSpPr>
        <p:spPr>
          <a:xfrm>
            <a:off x="6686875" y="5554766"/>
            <a:ext cx="2522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de contact nos cordonner et les champs pour remplir </a:t>
            </a:r>
          </a:p>
        </p:txBody>
      </p:sp>
    </p:spTree>
    <p:extLst>
      <p:ext uri="{BB962C8B-B14F-4D97-AF65-F5344CB8AC3E}">
        <p14:creationId xmlns:p14="http://schemas.microsoft.com/office/powerpoint/2010/main" val="3533354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7B3E7469-D82B-926A-8B96-CB1AB2E235BD}"/>
              </a:ext>
            </a:extLst>
          </p:cNvPr>
          <p:cNvSpPr txBox="1"/>
          <p:nvPr/>
        </p:nvSpPr>
        <p:spPr>
          <a:xfrm>
            <a:off x="3713480" y="426719"/>
            <a:ext cx="3561080" cy="584775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techniques : 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8265812-61EE-7FFC-DF10-074FB5DE2FA7}"/>
              </a:ext>
            </a:extLst>
          </p:cNvPr>
          <p:cNvSpPr txBox="1"/>
          <p:nvPr/>
        </p:nvSpPr>
        <p:spPr>
          <a:xfrm>
            <a:off x="147319" y="1656080"/>
            <a:ext cx="5537201" cy="50167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1600" dirty="0" err="1"/>
              <a:t>document.addEventListener</a:t>
            </a:r>
            <a:r>
              <a:rPr lang="fr-FR" sz="1600" dirty="0"/>
              <a:t>('</a:t>
            </a:r>
            <a:r>
              <a:rPr lang="fr-FR" sz="1600" dirty="0" err="1"/>
              <a:t>DOMContentLoaded</a:t>
            </a:r>
            <a:r>
              <a:rPr lang="fr-FR" sz="1600" dirty="0"/>
              <a:t>', () =&gt; {</a:t>
            </a:r>
          </a:p>
          <a:p>
            <a:r>
              <a:rPr lang="fr-FR" sz="1600" dirty="0"/>
              <a:t>  </a:t>
            </a:r>
            <a:r>
              <a:rPr lang="fr-FR" sz="1600" dirty="0" err="1"/>
              <a:t>const</a:t>
            </a:r>
            <a:r>
              <a:rPr lang="fr-FR" sz="1600" dirty="0"/>
              <a:t> </a:t>
            </a:r>
            <a:r>
              <a:rPr lang="fr-FR" sz="1600" dirty="0" err="1"/>
              <a:t>categor</a:t>
            </a:r>
            <a:r>
              <a:rPr lang="fr-FR" sz="1600" dirty="0"/>
              <a:t> = </a:t>
            </a:r>
            <a:r>
              <a:rPr lang="fr-FR" sz="1600" dirty="0" err="1"/>
              <a:t>document.querySelectorAll</a:t>
            </a:r>
            <a:r>
              <a:rPr lang="fr-FR" sz="1600" dirty="0"/>
              <a:t>('.fades');</a:t>
            </a:r>
          </a:p>
          <a:p>
            <a:r>
              <a:rPr lang="fr-FR" sz="1600" dirty="0"/>
              <a:t>  </a:t>
            </a:r>
            <a:r>
              <a:rPr lang="fr-FR" sz="1600" dirty="0" err="1"/>
              <a:t>const</a:t>
            </a:r>
            <a:r>
              <a:rPr lang="fr-FR" sz="1600" dirty="0"/>
              <a:t> options = {</a:t>
            </a:r>
          </a:p>
          <a:p>
            <a:r>
              <a:rPr lang="fr-FR" sz="1600" dirty="0"/>
              <a:t>    root: </a:t>
            </a:r>
            <a:r>
              <a:rPr lang="fr-FR" sz="1600" dirty="0" err="1"/>
              <a:t>null</a:t>
            </a:r>
            <a:r>
              <a:rPr lang="fr-FR" sz="1600" dirty="0"/>
              <a:t>,</a:t>
            </a:r>
          </a:p>
          <a:p>
            <a:r>
              <a:rPr lang="fr-FR" sz="1600" dirty="0"/>
              <a:t>    </a:t>
            </a:r>
            <a:r>
              <a:rPr lang="fr-FR" sz="1600" dirty="0" err="1"/>
              <a:t>rootMargin</a:t>
            </a:r>
            <a:r>
              <a:rPr lang="fr-FR" sz="1600" dirty="0"/>
              <a:t>: '0px',</a:t>
            </a:r>
          </a:p>
          <a:p>
            <a:r>
              <a:rPr lang="fr-FR" sz="1600" dirty="0"/>
              <a:t>    </a:t>
            </a:r>
            <a:r>
              <a:rPr lang="fr-FR" sz="1600" dirty="0" err="1"/>
              <a:t>threshold</a:t>
            </a:r>
            <a:r>
              <a:rPr lang="fr-FR" sz="1600" dirty="0"/>
              <a:t>: 0.2</a:t>
            </a:r>
          </a:p>
          <a:p>
            <a:r>
              <a:rPr lang="fr-FR" sz="1600" dirty="0"/>
              <a:t>  };</a:t>
            </a:r>
          </a:p>
          <a:p>
            <a:r>
              <a:rPr lang="fr-FR" sz="1600" dirty="0"/>
              <a:t>  </a:t>
            </a:r>
            <a:r>
              <a:rPr lang="fr-FR" sz="1600" dirty="0" err="1"/>
              <a:t>const</a:t>
            </a:r>
            <a:r>
              <a:rPr lang="fr-FR" sz="1600" dirty="0"/>
              <a:t> observer = new </a:t>
            </a:r>
            <a:r>
              <a:rPr lang="fr-FR" sz="1600" dirty="0" err="1"/>
              <a:t>IntersectionObserver</a:t>
            </a:r>
            <a:r>
              <a:rPr lang="fr-FR" sz="1600" dirty="0"/>
              <a:t>((entries, observe) =&gt; {</a:t>
            </a:r>
          </a:p>
          <a:p>
            <a:r>
              <a:rPr lang="fr-FR" sz="1600" dirty="0"/>
              <a:t>    </a:t>
            </a:r>
            <a:r>
              <a:rPr lang="fr-FR" sz="1600" dirty="0" err="1"/>
              <a:t>entries.forEach</a:t>
            </a:r>
            <a:r>
              <a:rPr lang="fr-FR" sz="1600" dirty="0"/>
              <a:t>(entry =&gt; {</a:t>
            </a:r>
          </a:p>
          <a:p>
            <a:r>
              <a:rPr lang="fr-FR" sz="1600" dirty="0"/>
              <a:t>      if (</a:t>
            </a:r>
            <a:r>
              <a:rPr lang="fr-FR" sz="1600" dirty="0" err="1"/>
              <a:t>entry.isIntersecting</a:t>
            </a:r>
            <a:r>
              <a:rPr lang="fr-FR" sz="1600" dirty="0"/>
              <a:t>) {</a:t>
            </a:r>
          </a:p>
          <a:p>
            <a:r>
              <a:rPr lang="fr-FR" sz="1600" dirty="0"/>
              <a:t>        </a:t>
            </a:r>
            <a:r>
              <a:rPr lang="fr-FR" sz="1600" dirty="0" err="1"/>
              <a:t>entry.target.classList.add</a:t>
            </a:r>
            <a:r>
              <a:rPr lang="fr-FR" sz="1600" dirty="0"/>
              <a:t>('show');</a:t>
            </a:r>
          </a:p>
          <a:p>
            <a:r>
              <a:rPr lang="fr-FR" sz="1600" dirty="0"/>
              <a:t>        </a:t>
            </a:r>
            <a:r>
              <a:rPr lang="fr-FR" sz="1600" dirty="0" err="1"/>
              <a:t>observer.unobserve</a:t>
            </a:r>
            <a:r>
              <a:rPr lang="fr-FR" sz="1600" dirty="0"/>
              <a:t>(</a:t>
            </a:r>
            <a:r>
              <a:rPr lang="fr-FR" sz="1600" dirty="0" err="1"/>
              <a:t>entry.target</a:t>
            </a:r>
            <a:r>
              <a:rPr lang="fr-FR" sz="1600" dirty="0"/>
              <a:t>);</a:t>
            </a:r>
          </a:p>
          <a:p>
            <a:r>
              <a:rPr lang="fr-FR" sz="1600" dirty="0"/>
              <a:t>      }</a:t>
            </a:r>
          </a:p>
          <a:p>
            <a:r>
              <a:rPr lang="fr-FR" sz="1600" dirty="0"/>
              <a:t>    });</a:t>
            </a:r>
          </a:p>
          <a:p>
            <a:r>
              <a:rPr lang="fr-FR" sz="1600" dirty="0"/>
              <a:t>  }, options);</a:t>
            </a:r>
          </a:p>
          <a:p>
            <a:r>
              <a:rPr lang="fr-FR" sz="1600" dirty="0"/>
              <a:t>  </a:t>
            </a:r>
            <a:r>
              <a:rPr lang="fr-FR" sz="1600" dirty="0" err="1"/>
              <a:t>categor.forEach</a:t>
            </a:r>
            <a:r>
              <a:rPr lang="fr-FR" sz="1600" dirty="0"/>
              <a:t>(div =&gt; {</a:t>
            </a:r>
          </a:p>
          <a:p>
            <a:r>
              <a:rPr lang="fr-FR" sz="1600" dirty="0"/>
              <a:t>    </a:t>
            </a:r>
            <a:r>
              <a:rPr lang="fr-FR" sz="1600" dirty="0" err="1"/>
              <a:t>observer.observe</a:t>
            </a:r>
            <a:r>
              <a:rPr lang="fr-FR" sz="1600" dirty="0"/>
              <a:t>(div)</a:t>
            </a:r>
          </a:p>
          <a:p>
            <a:r>
              <a:rPr lang="fr-FR" sz="1600" dirty="0"/>
              <a:t>  });</a:t>
            </a:r>
          </a:p>
          <a:p>
            <a:r>
              <a:rPr lang="fr-FR" sz="1600" dirty="0"/>
              <a:t>});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776ADB2-5913-9E86-BE87-CAE3364CD4D3}"/>
              </a:ext>
            </a:extLst>
          </p:cNvPr>
          <p:cNvSpPr txBox="1"/>
          <p:nvPr/>
        </p:nvSpPr>
        <p:spPr>
          <a:xfrm>
            <a:off x="1432560" y="1011494"/>
            <a:ext cx="1483360" cy="36933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FF98E1A-91D3-F0E0-B8D3-2FABD596FC25}"/>
              </a:ext>
            </a:extLst>
          </p:cNvPr>
          <p:cNvSpPr txBox="1"/>
          <p:nvPr/>
        </p:nvSpPr>
        <p:spPr>
          <a:xfrm>
            <a:off x="6329680" y="1812053"/>
            <a:ext cx="4876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animations des sections des pages d accueil et  a propos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code détecte quand les élément .fades entrent dans 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viewport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ajoute la classe show pour déclencher une transition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AB62AD6-949B-55C1-ED8E-D8762B8D4064}"/>
              </a:ext>
            </a:extLst>
          </p:cNvPr>
          <p:cNvSpPr txBox="1"/>
          <p:nvPr/>
        </p:nvSpPr>
        <p:spPr>
          <a:xfrm>
            <a:off x="6507482" y="4555471"/>
            <a:ext cx="487680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dirty="0" err="1"/>
              <a:t>threshold</a:t>
            </a:r>
            <a:r>
              <a:rPr lang="fr-FR" dirty="0"/>
              <a:t>: 0.2 signifie que l animation se déclenche lors 20% de l élément est visible </a:t>
            </a:r>
          </a:p>
          <a:p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2400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DE53405-FE10-F8E9-D034-DD69298F796D}"/>
              </a:ext>
            </a:extLst>
          </p:cNvPr>
          <p:cNvSpPr txBox="1"/>
          <p:nvPr/>
        </p:nvSpPr>
        <p:spPr>
          <a:xfrm>
            <a:off x="4257040" y="680720"/>
            <a:ext cx="4216400" cy="52322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 &amp;&amp;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avancé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E934B6F-C935-C197-4184-465AF79319FD}"/>
              </a:ext>
            </a:extLst>
          </p:cNvPr>
          <p:cNvSpPr txBox="1"/>
          <p:nvPr/>
        </p:nvSpPr>
        <p:spPr>
          <a:xfrm>
            <a:off x="121920" y="2607733"/>
            <a:ext cx="3911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Grille Bootstrap</a:t>
            </a: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du système container/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col pour une mise en page responsive sur 12 colonnes avec break points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sm,md,lg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9499660-8437-B776-3AC3-69FB55A1E2D6}"/>
              </a:ext>
            </a:extLst>
          </p:cNvPr>
          <p:cNvSpPr txBox="1"/>
          <p:nvPr/>
        </p:nvSpPr>
        <p:spPr>
          <a:xfrm>
            <a:off x="4140200" y="2607733"/>
            <a:ext cx="3911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Composants utilisés</a:t>
            </a: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Navbar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responsive , cartes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card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modales , bouton avec des couleur bleu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carousel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le témoignage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916B927-1FD9-E583-410C-CB6B422B9DE5}"/>
              </a:ext>
            </a:extLst>
          </p:cNvPr>
          <p:cNvSpPr txBox="1"/>
          <p:nvPr/>
        </p:nvSpPr>
        <p:spPr>
          <a:xfrm>
            <a:off x="8280400" y="2739813"/>
            <a:ext cx="3911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Avancé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Transition 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Freebox et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natifs , et media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les ajustements mobiles</a:t>
            </a:r>
          </a:p>
          <a:p>
            <a:r>
              <a:rPr lang="fr-FR" dirty="0"/>
              <a:t> 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grid-template-columns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les colonnes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8449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16BCC54-66F7-FB68-F3A1-F10F206D8698}"/>
              </a:ext>
            </a:extLst>
          </p:cNvPr>
          <p:cNvSpPr txBox="1"/>
          <p:nvPr/>
        </p:nvSpPr>
        <p:spPr>
          <a:xfrm>
            <a:off x="271463" y="487680"/>
            <a:ext cx="9829800" cy="52322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fr-FR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 historique  des </a:t>
            </a:r>
            <a:r>
              <a:rPr lang="fr-FR" sz="2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commits</a:t>
            </a:r>
            <a:r>
              <a:rPr lang="fr-FR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, workflow git et GitHub pages 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02E9AE6-818D-8688-5726-536917B6AFBB}"/>
              </a:ext>
            </a:extLst>
          </p:cNvPr>
          <p:cNvSpPr txBox="1"/>
          <p:nvPr/>
        </p:nvSpPr>
        <p:spPr>
          <a:xfrm>
            <a:off x="379306" y="1627874"/>
            <a:ext cx="5021369" cy="23083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de 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du dépôt Sylla-Amy-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Africalent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 du projet avec git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des commandes git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 , git commit –m et git push 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78D181B-A9F0-EE5B-69BE-FEEB4E575ECD}"/>
              </a:ext>
            </a:extLst>
          </p:cNvPr>
          <p:cNvSpPr txBox="1"/>
          <p:nvPr/>
        </p:nvSpPr>
        <p:spPr>
          <a:xfrm>
            <a:off x="379307" y="4382472"/>
            <a:ext cx="6150082" cy="230832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Développement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Réalisation des 10 commit demandes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 organisée par fonctionnalité (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HTML,CSS,JavaScript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Historique des versions disponible sur GitHub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92F0BB7-D962-64BF-DE29-64D293848114}"/>
              </a:ext>
            </a:extLst>
          </p:cNvPr>
          <p:cNvSpPr txBox="1"/>
          <p:nvPr/>
        </p:nvSpPr>
        <p:spPr>
          <a:xfrm>
            <a:off x="6240463" y="1272508"/>
            <a:ext cx="5734473" cy="24929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GIT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 main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Messages de commit descriptifs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Deploiement aves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Lien de site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fr-FR" dirty="0"/>
          </a:p>
          <a:p>
            <a:r>
              <a:rPr lang="fr-FR" dirty="0">
                <a:hlinkClick r:id="rId2"/>
              </a:rPr>
              <a:t>https://amy400.github.io/Sylla-Amy-Africalent/</a:t>
            </a:r>
            <a:endParaRPr lang="fr-FR" dirty="0"/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A4A1B34-5B9C-F659-F8FF-E82C6A387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477" y="3936521"/>
            <a:ext cx="4075748" cy="283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12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B5C07BC0-9013-5207-5A6D-191B19F99F65}"/>
              </a:ext>
            </a:extLst>
          </p:cNvPr>
          <p:cNvSpPr txBox="1"/>
          <p:nvPr/>
        </p:nvSpPr>
        <p:spPr>
          <a:xfrm>
            <a:off x="3870960" y="406400"/>
            <a:ext cx="4287520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Difficultés et les solutions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844B5ED-25EC-57FC-43E9-E92411DB3C9C}"/>
              </a:ext>
            </a:extLst>
          </p:cNvPr>
          <p:cNvSpPr txBox="1"/>
          <p:nvPr/>
        </p:nvSpPr>
        <p:spPr>
          <a:xfrm>
            <a:off x="697653" y="2051586"/>
            <a:ext cx="5008880" cy="42780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Probleme1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de git &amp; GitHub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initialise difficile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ai suivi des tutoriels officiels pour installer et configurer git . J ai également utilise l interface et le lien  de GitHub afin de mieux comprendre son fonctionnement et de faciliter les premières étapes de création et de gestion du dépôt .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2E19CAA-F392-E5BA-1A9C-72616BD10E6B}"/>
              </a:ext>
            </a:extLst>
          </p:cNvPr>
          <p:cNvSpPr txBox="1"/>
          <p:nvPr/>
        </p:nvSpPr>
        <p:spPr>
          <a:xfrm>
            <a:off x="6096000" y="1312922"/>
            <a:ext cx="5659120" cy="501675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Probleme2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J’ai envoyé plusieurs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commits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intermédiaire contenant des erreurs de syntaxe ou des modification incomplètes</a:t>
            </a:r>
          </a:p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 ai relu et corrige mon code en utilisant la documentation de MDN. J ai ensuite utilisé la commande de fusion de git pour  regrouper plusieurs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commits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un seul , afin d obtenir   historique plus propre et plus clair . Dans certains cas ,j ai également du recommencer le projet depuis le début pour repartir sur une base correcte </a:t>
            </a:r>
          </a:p>
        </p:txBody>
      </p:sp>
    </p:spTree>
    <p:extLst>
      <p:ext uri="{BB962C8B-B14F-4D97-AF65-F5344CB8AC3E}">
        <p14:creationId xmlns:p14="http://schemas.microsoft.com/office/powerpoint/2010/main" val="2835006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36C7FE6-E056-AF03-4054-AC115C858DD9}"/>
              </a:ext>
            </a:extLst>
          </p:cNvPr>
          <p:cNvSpPr txBox="1"/>
          <p:nvPr/>
        </p:nvSpPr>
        <p:spPr>
          <a:xfrm>
            <a:off x="3566160" y="528320"/>
            <a:ext cx="6024880" cy="523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Ressources et documentation utilisées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E2BFDB0-F9B0-5152-7BE8-F80F751E5BB7}"/>
              </a:ext>
            </a:extLst>
          </p:cNvPr>
          <p:cNvSpPr txBox="1"/>
          <p:nvPr/>
        </p:nvSpPr>
        <p:spPr>
          <a:xfrm>
            <a:off x="894080" y="2286000"/>
            <a:ext cx="4236720" cy="32316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MDN Web Docs: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HTML CSS JS 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Bootstrap 5: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Composants et grille 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Bootstrap Icon: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pour les icones 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Fonts :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Police ROBOTO NOTOSANS BIG SHOULDERS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7A86C50-F86A-62F0-E90B-DE0E7D69483A}"/>
              </a:ext>
            </a:extLst>
          </p:cNvPr>
          <p:cNvSpPr txBox="1"/>
          <p:nvPr/>
        </p:nvSpPr>
        <p:spPr>
          <a:xfrm>
            <a:off x="6416040" y="2126714"/>
            <a:ext cx="4587240" cy="378565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Coolors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de choisir les couleurs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Pinterest :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est la ou j ai pris les images des personnes 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W3C 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Validator</a:t>
            </a:r>
            <a:r>
              <a:rPr lang="fr-FR" sz="2000" dirty="0"/>
              <a:t>: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la validation de HTML 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 :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Docs gestion version et pages  </a:t>
            </a:r>
          </a:p>
          <a:p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922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0D7FDD8E-8EF2-4DAB-B9ED-B17DB2756AB8}"/>
              </a:ext>
            </a:extLst>
          </p:cNvPr>
          <p:cNvSpPr txBox="1"/>
          <p:nvPr/>
        </p:nvSpPr>
        <p:spPr>
          <a:xfrm>
            <a:off x="4008120" y="568960"/>
            <a:ext cx="4175760" cy="523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Démonstration live du site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F50D26E-2B3C-6B13-53EE-0AAC9700B1D0}"/>
              </a:ext>
            </a:extLst>
          </p:cNvPr>
          <p:cNvSpPr txBox="1"/>
          <p:nvPr/>
        </p:nvSpPr>
        <p:spPr>
          <a:xfrm>
            <a:off x="900112" y="1777037"/>
            <a:ext cx="5195887" cy="44012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 déployé sur GitHub pages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complète entre les 5 pages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responsive (mobile , tablette et ordinateur)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Fonctionnalités JavaScript opérationnelles (Dark mode , filtres , animation, retour en haut , validation du formulaire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Lien du site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D43AB1ED-C2A0-2191-03D9-6A9228AF1B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6128" y="1414463"/>
            <a:ext cx="4175760" cy="487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356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DEE41C5-2A1C-62A1-0D20-6A495D2B20EE}"/>
              </a:ext>
            </a:extLst>
          </p:cNvPr>
          <p:cNvSpPr txBox="1"/>
          <p:nvPr/>
        </p:nvSpPr>
        <p:spPr>
          <a:xfrm>
            <a:off x="5151914" y="213360"/>
            <a:ext cx="2177097" cy="523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45A309E-11F5-7AF6-FDFD-796A26EFA667}"/>
              </a:ext>
            </a:extLst>
          </p:cNvPr>
          <p:cNvSpPr txBox="1"/>
          <p:nvPr/>
        </p:nvSpPr>
        <p:spPr>
          <a:xfrm>
            <a:off x="474133" y="1574800"/>
            <a:ext cx="667512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projet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a permis de développer un site web moderne en utilisant HTML, CSS, JavaScript et Bootstrap . J ai appris à créer et une interface responsive à gérer les animations , le mode sombre , la navigation et à organiser correctement le code . Ce projet m a également permis de mieux comprendre l utilisation de git et GitHub pour le suivi des versions 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0AA52BD-E7F3-5506-F16F-57EA1B3AE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640" y="736580"/>
            <a:ext cx="3850640" cy="577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825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732C113-5052-11FF-AF65-391277713F57}"/>
              </a:ext>
            </a:extLst>
          </p:cNvPr>
          <p:cNvSpPr txBox="1"/>
          <p:nvPr/>
        </p:nvSpPr>
        <p:spPr>
          <a:xfrm>
            <a:off x="3616960" y="589280"/>
            <a:ext cx="4968240" cy="52322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perspectives d'amélioration</a:t>
            </a:r>
            <a:endParaRPr lang="fr-FR" sz="28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DABD8E0-F98E-9679-803C-15E0684FF7BA}"/>
              </a:ext>
            </a:extLst>
          </p:cNvPr>
          <p:cNvSpPr txBox="1"/>
          <p:nvPr/>
        </p:nvSpPr>
        <p:spPr>
          <a:xfrm>
            <a:off x="843280" y="1838960"/>
            <a:ext cx="47955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les prochaines version ,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Afritalent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pourrait intégrer un système d authentification, une base de données pour gérer les utilisateurs , un moteur de recherche plus avancé , une messagerie entre les clients et les freelances ainsi qu’une optimisation des performances et du référencement afin d offrir une meilleure expérience aux utilisateurs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9649371-7976-4D63-1D61-20E641D02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88098" y="1571557"/>
            <a:ext cx="4444444" cy="4138363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340893E-5F4F-ABA3-F2E8-B988CA26C95D}"/>
              </a:ext>
            </a:extLst>
          </p:cNvPr>
          <p:cNvSpPr txBox="1"/>
          <p:nvPr/>
        </p:nvSpPr>
        <p:spPr>
          <a:xfrm>
            <a:off x="6688098" y="5393780"/>
            <a:ext cx="44444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dirty="0">
                <a:hlinkClick r:id="rId3" tooltip="http://www.pngall.com/web-development-png"/>
              </a:rPr>
              <a:t>Cette photo</a:t>
            </a:r>
            <a:r>
              <a:rPr lang="fr-FR" sz="900" dirty="0"/>
              <a:t> par Auteur inconnu est soumise à la licence </a:t>
            </a:r>
            <a:r>
              <a:rPr lang="fr-FR" sz="900" dirty="0">
                <a:hlinkClick r:id="rId4" tooltip="https://creativecommons.org/licenses/by-nc/3.0/"/>
              </a:rPr>
              <a:t>CC BY-NC</a:t>
            </a:r>
            <a:endParaRPr lang="fr-FR" sz="900" dirty="0"/>
          </a:p>
        </p:txBody>
      </p:sp>
    </p:spTree>
    <p:extLst>
      <p:ext uri="{BB962C8B-B14F-4D97-AF65-F5344CB8AC3E}">
        <p14:creationId xmlns:p14="http://schemas.microsoft.com/office/powerpoint/2010/main" val="365182459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4464</TotalTime>
  <Words>1224</Words>
  <Application>Microsoft Office PowerPoint</Application>
  <PresentationFormat>Grand écran</PresentationFormat>
  <Paragraphs>197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Amy Sylla</dc:creator>
  <cp:lastModifiedBy>Amy Sylla</cp:lastModifiedBy>
  <cp:revision>9</cp:revision>
  <dcterms:created xsi:type="dcterms:W3CDTF">2026-06-22T21:53:09Z</dcterms:created>
  <dcterms:modified xsi:type="dcterms:W3CDTF">2026-06-30T18:10:03Z</dcterms:modified>
</cp:coreProperties>
</file>